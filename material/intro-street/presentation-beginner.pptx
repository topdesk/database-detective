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1" r:id="rId3"/>
    <p:sldId id="302" r:id="rId4"/>
    <p:sldId id="259" r:id="rId5"/>
    <p:sldId id="260" r:id="rId6"/>
    <p:sldId id="292" r:id="rId7"/>
    <p:sldId id="287" r:id="rId8"/>
    <p:sldId id="286" r:id="rId9"/>
    <p:sldId id="297" r:id="rId10"/>
    <p:sldId id="300" r:id="rId1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a:srgbClr val="A7E13F"/>
    <a:srgbClr val="EEB4CE"/>
    <a:srgbClr val="917327"/>
    <a:srgbClr val="20BEDE"/>
    <a:srgbClr val="A7E1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C5E3E7-6D59-0D9B-A6FC-7FB136142C28}" v="9" dt="2022-07-08T09:27:03.9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jn van Iersel" userId="S::martijni@topdesk.com::201d14f9-7537-4801-bb0b-a6c0a4d097d1" providerId="AD" clId="Web-{BDC5E3E7-6D59-0D9B-A6FC-7FB136142C28}"/>
    <pc:docChg chg="modSld">
      <pc:chgData name="Martijn van Iersel" userId="S::martijni@topdesk.com::201d14f9-7537-4801-bb0b-a6c0a4d097d1" providerId="AD" clId="Web-{BDC5E3E7-6D59-0D9B-A6FC-7FB136142C28}" dt="2022-07-08T09:27:03.927" v="8" actId="20577"/>
      <pc:docMkLst>
        <pc:docMk/>
      </pc:docMkLst>
      <pc:sldChg chg="modSp">
        <pc:chgData name="Martijn van Iersel" userId="S::martijni@topdesk.com::201d14f9-7537-4801-bb0b-a6c0a4d097d1" providerId="AD" clId="Web-{BDC5E3E7-6D59-0D9B-A6FC-7FB136142C28}" dt="2022-07-08T09:27:03.927" v="8" actId="20577"/>
        <pc:sldMkLst>
          <pc:docMk/>
          <pc:sldMk cId="1508321932" sldId="286"/>
        </pc:sldMkLst>
        <pc:spChg chg="mod">
          <ac:chgData name="Martijn van Iersel" userId="S::martijni@topdesk.com::201d14f9-7537-4801-bb0b-a6c0a4d097d1" providerId="AD" clId="Web-{BDC5E3E7-6D59-0D9B-A6FC-7FB136142C28}" dt="2022-07-08T09:27:03.927" v="8" actId="20577"/>
          <ac:spMkLst>
            <pc:docMk/>
            <pc:sldMk cId="1508321932" sldId="286"/>
            <ac:spMk id="7" creationId="{B4B8F6B5-0CFE-4A96-84F0-EC2E6453A16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2212A-10AB-405F-9B6B-EB65EB9730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33EAC9ED-6F69-4DE8-B04B-A67C19C7B5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890904A1-755C-456A-B0DF-18E1EE59594F}"/>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5" name="Footer Placeholder 4">
            <a:extLst>
              <a:ext uri="{FF2B5EF4-FFF2-40B4-BE49-F238E27FC236}">
                <a16:creationId xmlns:a16="http://schemas.microsoft.com/office/drawing/2014/main" id="{ACF3642D-F3CD-4EF0-BECA-6001BEC3D829}"/>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AFE629C-68F4-431E-982B-5DC632AD6903}"/>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3300819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39F2B-7C59-4C7E-98AC-CB0144908FC3}"/>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E7529AC4-917C-4F93-965F-1305D3CD48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25C3A093-6C14-4725-83DB-19C7A5DA4A39}"/>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5" name="Footer Placeholder 4">
            <a:extLst>
              <a:ext uri="{FF2B5EF4-FFF2-40B4-BE49-F238E27FC236}">
                <a16:creationId xmlns:a16="http://schemas.microsoft.com/office/drawing/2014/main" id="{D7021DE2-CD52-4C5A-8DA0-FED03C29C4A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8A7615F7-6FD4-41FD-AB80-9C41AD541BE9}"/>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4010113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DA75-08B8-41B0-B299-76EC37B9BD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3A5C02F4-89CE-4011-B298-C9406A774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772DD4-F343-42F6-AFC7-937BDC608488}"/>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5" name="Footer Placeholder 4">
            <a:extLst>
              <a:ext uri="{FF2B5EF4-FFF2-40B4-BE49-F238E27FC236}">
                <a16:creationId xmlns:a16="http://schemas.microsoft.com/office/drawing/2014/main" id="{A74A5EE9-D26D-4124-B9E0-4AFBF196929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74147D1-A1C4-427A-AB23-CD6C9C63F57E}"/>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413659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CCE7F-B81A-4DD9-BF03-645802F4DACA}"/>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2D162B85-7E25-42A7-AE43-A5B09E670B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73941908-080F-453C-A716-59252585CA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F973A05F-C042-4DBA-A372-32C5F5991C5F}"/>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6" name="Footer Placeholder 5">
            <a:extLst>
              <a:ext uri="{FF2B5EF4-FFF2-40B4-BE49-F238E27FC236}">
                <a16:creationId xmlns:a16="http://schemas.microsoft.com/office/drawing/2014/main" id="{B7C7CCFA-83A0-49BA-B858-D7CAF42AE467}"/>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D99F4A27-2367-4D9C-88DC-3C3F1D81DA25}"/>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73738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3F06-26C9-46AD-BBF4-C10C698D9D36}"/>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0772C20C-D5FC-4721-82A5-793775496E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EB6E45-6D1F-4912-A66C-9BCF65C1FA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B7C726EB-AABD-41C6-89DA-4B0524F552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212E33-7827-468E-B0B8-2B51056AC0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ECDFFC0F-DB13-47EC-9C75-0EBD74F44470}"/>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8" name="Footer Placeholder 7">
            <a:extLst>
              <a:ext uri="{FF2B5EF4-FFF2-40B4-BE49-F238E27FC236}">
                <a16:creationId xmlns:a16="http://schemas.microsoft.com/office/drawing/2014/main" id="{071C5405-6A4F-463D-9C5C-C3D34E32A5B7}"/>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311F12E8-459F-4686-91CA-5FA5D51B3888}"/>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382808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9BD1-DA1D-41EF-9083-D12553D2346A}"/>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41F9BA55-17B5-47D0-8BD6-01352F6DE8CC}"/>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4" name="Footer Placeholder 3">
            <a:extLst>
              <a:ext uri="{FF2B5EF4-FFF2-40B4-BE49-F238E27FC236}">
                <a16:creationId xmlns:a16="http://schemas.microsoft.com/office/drawing/2014/main" id="{3598ACBB-A87E-433C-935C-E355711D7166}"/>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1486BE61-E816-4367-95AA-8CEE8A0C8BE0}"/>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2234038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09933-D579-4866-A623-772AC83CAA10}"/>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3" name="Footer Placeholder 2">
            <a:extLst>
              <a:ext uri="{FF2B5EF4-FFF2-40B4-BE49-F238E27FC236}">
                <a16:creationId xmlns:a16="http://schemas.microsoft.com/office/drawing/2014/main" id="{12E006DC-EA32-45DF-A3D1-7A5DFA51E355}"/>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50BDB23F-27E9-498C-80B7-8C18F8427E3A}"/>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3593500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E52F-23D1-4086-ACA6-7820EDBBC8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1510A6E8-84F5-4C1D-AA8B-9BF73BD1BA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4A703888-9E86-43A9-8FFA-77ED58762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8C9D1-FACB-4180-A97A-865E56D7B379}"/>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6" name="Footer Placeholder 5">
            <a:extLst>
              <a:ext uri="{FF2B5EF4-FFF2-40B4-BE49-F238E27FC236}">
                <a16:creationId xmlns:a16="http://schemas.microsoft.com/office/drawing/2014/main" id="{86589DE9-4309-4292-A318-F8A8A5E3F4A5}"/>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B9B47928-4FE2-42E9-939D-9DB0F7B06EB2}"/>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1865506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57C9F-A3C9-4462-B78E-0BEFD1B75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25205F8A-4E05-499F-95A3-27D2DB1638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09BBEA78-452B-4DD6-AFD2-0030AF31BB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4F9F9A-A579-4530-A32B-D1EE8E9D230D}"/>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6" name="Footer Placeholder 5">
            <a:extLst>
              <a:ext uri="{FF2B5EF4-FFF2-40B4-BE49-F238E27FC236}">
                <a16:creationId xmlns:a16="http://schemas.microsoft.com/office/drawing/2014/main" id="{86A8BC5A-A22C-4544-A841-814241E4F9C3}"/>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4FD4E23C-C536-4F33-9A63-2D37401FF32C}"/>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2147729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08838-CBDC-4EBD-8017-90EC517C316B}"/>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37D3B462-F7EF-4621-BAFB-3538660654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88485B92-52B9-41D8-AEA8-85D8941362C5}"/>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5" name="Footer Placeholder 4">
            <a:extLst>
              <a:ext uri="{FF2B5EF4-FFF2-40B4-BE49-F238E27FC236}">
                <a16:creationId xmlns:a16="http://schemas.microsoft.com/office/drawing/2014/main" id="{44E7B788-48B0-4195-96C2-B68A770AF13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918B1C9-42C8-4127-8640-EB212DBDDEBF}"/>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3575080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C56BC8-C93C-4A50-89EB-CB1579A6E2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78E5C7F-A33C-4189-AB51-F2FA9CB75B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19C84C3F-B025-4A5D-9108-BC510E067905}"/>
              </a:ext>
            </a:extLst>
          </p:cNvPr>
          <p:cNvSpPr>
            <a:spLocks noGrp="1"/>
          </p:cNvSpPr>
          <p:nvPr>
            <p:ph type="dt" sz="half" idx="10"/>
          </p:nvPr>
        </p:nvSpPr>
        <p:spPr/>
        <p:txBody>
          <a:bodyPr/>
          <a:lstStyle/>
          <a:p>
            <a:fld id="{02CA972A-68E8-4633-A9A0-44E2E8069FB2}" type="datetimeFigureOut">
              <a:rPr lang="nl-NL" smtClean="0"/>
              <a:t>15-9-2026</a:t>
            </a:fld>
            <a:endParaRPr lang="nl-NL"/>
          </a:p>
        </p:txBody>
      </p:sp>
      <p:sp>
        <p:nvSpPr>
          <p:cNvPr id="5" name="Footer Placeholder 4">
            <a:extLst>
              <a:ext uri="{FF2B5EF4-FFF2-40B4-BE49-F238E27FC236}">
                <a16:creationId xmlns:a16="http://schemas.microsoft.com/office/drawing/2014/main" id="{BBD69E86-0A87-4DF3-9EA1-9748735A07C7}"/>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5F2B74F-1EB3-4E10-8A4D-1D924D4FD00B}"/>
              </a:ext>
            </a:extLst>
          </p:cNvPr>
          <p:cNvSpPr>
            <a:spLocks noGrp="1"/>
          </p:cNvSpPr>
          <p:nvPr>
            <p:ph type="sldNum" sz="quarter" idx="12"/>
          </p:nvPr>
        </p:nvSpPr>
        <p:spPr/>
        <p:txBody>
          <a:bodyPr/>
          <a:lstStyle/>
          <a:p>
            <a:fld id="{2EE6F20F-789B-44D7-AB78-5CD022561403}" type="slidenum">
              <a:rPr lang="nl-NL" smtClean="0"/>
              <a:t>‹#›</a:t>
            </a:fld>
            <a:endParaRPr lang="nl-NL"/>
          </a:p>
        </p:txBody>
      </p:sp>
    </p:spTree>
    <p:extLst>
      <p:ext uri="{BB962C8B-B14F-4D97-AF65-F5344CB8AC3E}">
        <p14:creationId xmlns:p14="http://schemas.microsoft.com/office/powerpoint/2010/main" val="2982287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E3600E-BA67-4C7F-BDDB-5944EABA8F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2CB44AA5-CA9B-4A65-9312-8B3F4C3D97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B160D3CE-B480-41BD-B10B-A606D1F491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A972A-68E8-4633-A9A0-44E2E8069FB2}" type="datetimeFigureOut">
              <a:rPr lang="nl-NL" smtClean="0"/>
              <a:t>15-9-2026</a:t>
            </a:fld>
            <a:endParaRPr lang="nl-NL"/>
          </a:p>
        </p:txBody>
      </p:sp>
      <p:sp>
        <p:nvSpPr>
          <p:cNvPr id="5" name="Footer Placeholder 4">
            <a:extLst>
              <a:ext uri="{FF2B5EF4-FFF2-40B4-BE49-F238E27FC236}">
                <a16:creationId xmlns:a16="http://schemas.microsoft.com/office/drawing/2014/main" id="{0C79C085-A8CB-4A0E-BB73-7680FC328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97649C83-E0E7-4195-B8DA-F449699F5D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6F20F-789B-44D7-AB78-5CD022561403}" type="slidenum">
              <a:rPr lang="nl-NL" smtClean="0"/>
              <a:t>‹#›</a:t>
            </a:fld>
            <a:endParaRPr lang="nl-NL"/>
          </a:p>
        </p:txBody>
      </p:sp>
    </p:spTree>
    <p:extLst>
      <p:ext uri="{BB962C8B-B14F-4D97-AF65-F5344CB8AC3E}">
        <p14:creationId xmlns:p14="http://schemas.microsoft.com/office/powerpoint/2010/main" val="546928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topdesk.github.io/database-detective/"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28ED9-2F4A-4DC2-A94E-5188B86B1E5D}"/>
              </a:ext>
            </a:extLst>
          </p:cNvPr>
          <p:cNvSpPr>
            <a:spLocks noGrp="1"/>
          </p:cNvSpPr>
          <p:nvPr>
            <p:ph type="ctrTitle"/>
          </p:nvPr>
        </p:nvSpPr>
        <p:spPr/>
        <p:txBody>
          <a:bodyPr/>
          <a:lstStyle/>
          <a:p>
            <a:endParaRPr lang="nl-NL"/>
          </a:p>
        </p:txBody>
      </p:sp>
      <p:sp>
        <p:nvSpPr>
          <p:cNvPr id="3" name="Subtitle 2">
            <a:extLst>
              <a:ext uri="{FF2B5EF4-FFF2-40B4-BE49-F238E27FC236}">
                <a16:creationId xmlns:a16="http://schemas.microsoft.com/office/drawing/2014/main" id="{7C7C94C4-288F-4CDC-A050-04A57E469890}"/>
              </a:ext>
            </a:extLst>
          </p:cNvPr>
          <p:cNvSpPr>
            <a:spLocks noGrp="1"/>
          </p:cNvSpPr>
          <p:nvPr>
            <p:ph type="subTitle" idx="1"/>
          </p:nvPr>
        </p:nvSpPr>
        <p:spPr/>
        <p:txBody>
          <a:bodyPr/>
          <a:lstStyle/>
          <a:p>
            <a:endParaRPr lang="nl-NL"/>
          </a:p>
        </p:txBody>
      </p:sp>
      <p:pic>
        <p:nvPicPr>
          <p:cNvPr id="5" name="Picture 4">
            <a:extLst>
              <a:ext uri="{FF2B5EF4-FFF2-40B4-BE49-F238E27FC236}">
                <a16:creationId xmlns:a16="http://schemas.microsoft.com/office/drawing/2014/main" id="{7BDAEA19-8828-47B1-A06C-6E6FF9685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
        <p:nvSpPr>
          <p:cNvPr id="6" name="TextBox 5">
            <a:extLst>
              <a:ext uri="{FF2B5EF4-FFF2-40B4-BE49-F238E27FC236}">
                <a16:creationId xmlns:a16="http://schemas.microsoft.com/office/drawing/2014/main" id="{49D86697-2130-48DE-ADE8-2E20C8EA5F42}"/>
              </a:ext>
            </a:extLst>
          </p:cNvPr>
          <p:cNvSpPr txBox="1"/>
          <p:nvPr/>
        </p:nvSpPr>
        <p:spPr>
          <a:xfrm>
            <a:off x="0" y="-124004"/>
            <a:ext cx="11382375" cy="1200329"/>
          </a:xfrm>
          <a:prstGeom prst="rect">
            <a:avLst/>
          </a:prstGeom>
          <a:noFill/>
        </p:spPr>
        <p:txBody>
          <a:bodyPr wrap="square" rtlCol="0">
            <a:spAutoFit/>
          </a:bodyPr>
          <a:lstStyle/>
          <a:p>
            <a:r>
              <a:rPr lang="en-US" sz="3600" dirty="0">
                <a:solidFill>
                  <a:schemeClr val="bg1"/>
                </a:solidFill>
                <a:latin typeface="Broadway" panose="020B0604020202020204" pitchFamily="82" charset="0"/>
              </a:rPr>
              <a:t>Dick B. Anderson</a:t>
            </a:r>
          </a:p>
          <a:p>
            <a:r>
              <a:rPr lang="en-US" sz="3600" dirty="0">
                <a:solidFill>
                  <a:schemeClr val="bg1"/>
                </a:solidFill>
                <a:latin typeface="Broadway" panose="020B0604020202020204" pitchFamily="82" charset="0"/>
              </a:rPr>
              <a:t>Police Detective</a:t>
            </a:r>
            <a:endParaRPr lang="nl-NL" sz="3600" dirty="0">
              <a:solidFill>
                <a:schemeClr val="bg1"/>
              </a:solidFill>
              <a:latin typeface="Broadway" panose="020B0604020202020204" pitchFamily="82" charset="0"/>
            </a:endParaRPr>
          </a:p>
        </p:txBody>
      </p:sp>
    </p:spTree>
    <p:extLst>
      <p:ext uri="{BB962C8B-B14F-4D97-AF65-F5344CB8AC3E}">
        <p14:creationId xmlns:p14="http://schemas.microsoft.com/office/powerpoint/2010/main" val="3757790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799663C-24B9-4C6E-BB6D-10FA19EDAA27}"/>
              </a:ext>
            </a:extLst>
          </p:cNvPr>
          <p:cNvSpPr txBox="1"/>
          <p:nvPr/>
        </p:nvSpPr>
        <p:spPr>
          <a:xfrm>
            <a:off x="404811" y="1105286"/>
            <a:ext cx="11382375" cy="4647426"/>
          </a:xfrm>
          <a:prstGeom prst="rect">
            <a:avLst/>
          </a:prstGeom>
          <a:noFill/>
        </p:spPr>
        <p:txBody>
          <a:bodyPr wrap="square" rtlCol="0">
            <a:spAutoFit/>
          </a:bodyPr>
          <a:lstStyle/>
          <a:p>
            <a:pPr algn="ctr"/>
            <a:r>
              <a:rPr lang="en-US" sz="6000" dirty="0">
                <a:solidFill>
                  <a:schemeClr val="bg1"/>
                </a:solidFill>
                <a:latin typeface="Gigi" panose="04040504060007020D02" pitchFamily="82" charset="0"/>
              </a:rPr>
              <a:t>Directed</a:t>
            </a:r>
          </a:p>
          <a:p>
            <a:pPr algn="ctr"/>
            <a:r>
              <a:rPr lang="en-US" sz="6000" dirty="0">
                <a:solidFill>
                  <a:schemeClr val="bg1"/>
                </a:solidFill>
                <a:latin typeface="Gigi" panose="04040504060007020D02" pitchFamily="82" charset="0"/>
              </a:rPr>
              <a:t>by</a:t>
            </a:r>
          </a:p>
          <a:p>
            <a:pPr algn="ctr"/>
            <a:endParaRPr lang="en-US" sz="3600" dirty="0">
              <a:solidFill>
                <a:schemeClr val="bg1"/>
              </a:solidFill>
              <a:latin typeface="Broadway" panose="020B0604020202020204" pitchFamily="82" charset="0"/>
            </a:endParaRPr>
          </a:p>
          <a:p>
            <a:pPr algn="ctr"/>
            <a:r>
              <a:rPr lang="en-US" sz="7000" dirty="0">
                <a:solidFill>
                  <a:schemeClr val="bg1"/>
                </a:solidFill>
                <a:latin typeface="Broadway" panose="020B0604020202020204" pitchFamily="82" charset="0"/>
              </a:rPr>
              <a:t>Martijn van Iersel</a:t>
            </a:r>
          </a:p>
          <a:p>
            <a:pPr algn="ctr"/>
            <a:r>
              <a:rPr lang="en-US" sz="7000" dirty="0">
                <a:solidFill>
                  <a:schemeClr val="bg1"/>
                </a:solidFill>
                <a:latin typeface="Broadway" panose="020B0604020202020204" pitchFamily="82" charset="0"/>
              </a:rPr>
              <a:t>Orsika Labuda</a:t>
            </a:r>
            <a:endParaRPr lang="nl-NL" sz="7000" dirty="0">
              <a:solidFill>
                <a:schemeClr val="bg1"/>
              </a:solidFill>
              <a:latin typeface="Broadway" panose="020B0604020202020204" pitchFamily="82" charset="0"/>
            </a:endParaRPr>
          </a:p>
        </p:txBody>
      </p:sp>
      <p:pic>
        <p:nvPicPr>
          <p:cNvPr id="4" name="Picture 2">
            <a:extLst>
              <a:ext uri="{FF2B5EF4-FFF2-40B4-BE49-F238E27FC236}">
                <a16:creationId xmlns:a16="http://schemas.microsoft.com/office/drawing/2014/main" id="{6C1A92A9-AAE4-4B9A-929D-B848B046B39C}"/>
              </a:ext>
            </a:extLst>
          </p:cNvPr>
          <p:cNvPicPr>
            <a:picLocks noChangeAspect="1" noChangeArrowheads="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artisticBlur radius="4"/>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0" y="-642639"/>
            <a:ext cx="12191999" cy="81443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8F75472-C9ED-4F7B-B97C-2F9BEAC58FE0}"/>
              </a:ext>
            </a:extLst>
          </p:cNvPr>
          <p:cNvSpPr txBox="1"/>
          <p:nvPr/>
        </p:nvSpPr>
        <p:spPr>
          <a:xfrm>
            <a:off x="557211" y="1257686"/>
            <a:ext cx="11382375" cy="4647426"/>
          </a:xfrm>
          <a:prstGeom prst="rect">
            <a:avLst/>
          </a:prstGeom>
          <a:noFill/>
        </p:spPr>
        <p:txBody>
          <a:bodyPr wrap="square" rtlCol="0">
            <a:spAutoFit/>
          </a:bodyPr>
          <a:lstStyle/>
          <a:p>
            <a:pPr algn="r"/>
            <a:r>
              <a:rPr lang="en-US" sz="6000" dirty="0">
                <a:solidFill>
                  <a:schemeClr val="bg1"/>
                </a:solidFill>
                <a:latin typeface="Gigi" panose="04040504060007020D02" pitchFamily="82" charset="0"/>
              </a:rPr>
              <a:t>Directed</a:t>
            </a:r>
          </a:p>
          <a:p>
            <a:pPr algn="r"/>
            <a:r>
              <a:rPr lang="en-US" sz="6000" dirty="0">
                <a:solidFill>
                  <a:schemeClr val="bg1"/>
                </a:solidFill>
                <a:latin typeface="Gigi" panose="04040504060007020D02" pitchFamily="82" charset="0"/>
              </a:rPr>
              <a:t>by</a:t>
            </a:r>
          </a:p>
          <a:p>
            <a:pPr algn="r"/>
            <a:endParaRPr lang="en-US" sz="3600" dirty="0">
              <a:solidFill>
                <a:schemeClr val="bg1"/>
              </a:solidFill>
              <a:latin typeface="Broadway" panose="020B0604020202020204" pitchFamily="82" charset="0"/>
            </a:endParaRPr>
          </a:p>
          <a:p>
            <a:pPr algn="r"/>
            <a:r>
              <a:rPr lang="en-US" sz="7000" dirty="0">
                <a:solidFill>
                  <a:schemeClr val="bg1"/>
                </a:solidFill>
                <a:latin typeface="Broadway" panose="020B0604020202020204" pitchFamily="82" charset="0"/>
              </a:rPr>
              <a:t>Martijn van Iersel</a:t>
            </a:r>
          </a:p>
          <a:p>
            <a:pPr algn="r"/>
            <a:r>
              <a:rPr lang="en-US" sz="7000" dirty="0">
                <a:solidFill>
                  <a:schemeClr val="bg1"/>
                </a:solidFill>
                <a:latin typeface="Broadway" panose="020B0604020202020204" pitchFamily="82" charset="0"/>
              </a:rPr>
              <a:t>Orsika Labuda</a:t>
            </a:r>
            <a:endParaRPr lang="nl-NL" sz="7000" dirty="0">
              <a:solidFill>
                <a:schemeClr val="bg1"/>
              </a:solidFill>
              <a:latin typeface="Broadway" panose="020B0604020202020204" pitchFamily="82" charset="0"/>
            </a:endParaRPr>
          </a:p>
        </p:txBody>
      </p:sp>
    </p:spTree>
    <p:extLst>
      <p:ext uri="{BB962C8B-B14F-4D97-AF65-F5344CB8AC3E}">
        <p14:creationId xmlns:p14="http://schemas.microsoft.com/office/powerpoint/2010/main" val="1666496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E3E93BB-E660-4CB6-9519-234F7F51944F}"/>
              </a:ext>
            </a:extLst>
          </p:cNvPr>
          <p:cNvPicPr>
            <a:picLocks noChangeAspect="1" noChangeArrowheads="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harpenSoften amount="-4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05290" y="0"/>
            <a:ext cx="13002582" cy="68579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8F75472-C9ED-4F7B-B97C-2F9BEAC58FE0}"/>
              </a:ext>
            </a:extLst>
          </p:cNvPr>
          <p:cNvSpPr txBox="1"/>
          <p:nvPr/>
        </p:nvSpPr>
        <p:spPr>
          <a:xfrm>
            <a:off x="557211" y="1257686"/>
            <a:ext cx="11382375" cy="4647426"/>
          </a:xfrm>
          <a:prstGeom prst="rect">
            <a:avLst/>
          </a:prstGeom>
          <a:noFill/>
        </p:spPr>
        <p:txBody>
          <a:bodyPr wrap="square" rtlCol="0">
            <a:spAutoFit/>
          </a:bodyPr>
          <a:lstStyle/>
          <a:p>
            <a:pPr algn="r"/>
            <a:r>
              <a:rPr lang="en-US" sz="6000" dirty="0">
                <a:solidFill>
                  <a:schemeClr val="bg1"/>
                </a:solidFill>
                <a:latin typeface="Gigi" panose="04040504060007020D02" pitchFamily="82" charset="0"/>
              </a:rPr>
              <a:t>Presented</a:t>
            </a:r>
          </a:p>
          <a:p>
            <a:pPr algn="r"/>
            <a:r>
              <a:rPr lang="en-US" sz="6000" dirty="0">
                <a:solidFill>
                  <a:schemeClr val="bg1"/>
                </a:solidFill>
                <a:latin typeface="Gigi" panose="04040504060007020D02" pitchFamily="82" charset="0"/>
              </a:rPr>
              <a:t>by</a:t>
            </a:r>
          </a:p>
          <a:p>
            <a:pPr algn="r"/>
            <a:endParaRPr lang="en-US" sz="3600" dirty="0">
              <a:solidFill>
                <a:schemeClr val="bg1"/>
              </a:solidFill>
              <a:latin typeface="Broadway" panose="020B0604020202020204" pitchFamily="82" charset="0"/>
            </a:endParaRPr>
          </a:p>
          <a:p>
            <a:pPr algn="r"/>
            <a:r>
              <a:rPr lang="en-US" sz="7000" dirty="0">
                <a:solidFill>
                  <a:schemeClr val="bg1"/>
                </a:solidFill>
                <a:latin typeface="Broadway" panose="020B0604020202020204" pitchFamily="82" charset="0"/>
              </a:rPr>
              <a:t>Martijn van Iersel</a:t>
            </a:r>
          </a:p>
          <a:p>
            <a:pPr algn="r"/>
            <a:r>
              <a:rPr lang="en-US" sz="7000" dirty="0">
                <a:solidFill>
                  <a:schemeClr val="bg1"/>
                </a:solidFill>
                <a:latin typeface="Broadway" panose="020B0604020202020204" pitchFamily="82" charset="0"/>
              </a:rPr>
              <a:t>Joep Weijers</a:t>
            </a:r>
            <a:endParaRPr lang="nl-NL" sz="7000" dirty="0">
              <a:solidFill>
                <a:schemeClr val="bg1"/>
              </a:solidFill>
              <a:latin typeface="Broadway" panose="020B0604020202020204" pitchFamily="82" charset="0"/>
            </a:endParaRPr>
          </a:p>
        </p:txBody>
      </p:sp>
    </p:spTree>
    <p:extLst>
      <p:ext uri="{BB962C8B-B14F-4D97-AF65-F5344CB8AC3E}">
        <p14:creationId xmlns:p14="http://schemas.microsoft.com/office/powerpoint/2010/main" val="3249037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6DCB68-0B2A-43D7-9B24-6F3E12E514D2}"/>
              </a:ext>
            </a:extLst>
          </p:cNvPr>
          <p:cNvSpPr>
            <a:spLocks noGrp="1"/>
          </p:cNvSpPr>
          <p:nvPr>
            <p:ph idx="1"/>
          </p:nvPr>
        </p:nvSpPr>
        <p:spPr>
          <a:xfrm>
            <a:off x="6497053" y="465221"/>
            <a:ext cx="5323471" cy="5943600"/>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Rain was falling and slowly washed away the blood in the gutter. The forensic team was making photos and preparing to take away the body for autopsy. Such a shame, this young fellow had his whole life ahead of him. But now that's over. A knife through the chest will do that to you.</a:t>
            </a:r>
          </a:p>
          <a:p>
            <a:pPr marL="0" indent="0">
              <a:buNone/>
            </a:pPr>
            <a:r>
              <a:rPr lang="en-US" dirty="0">
                <a:latin typeface="Times New Roman" panose="02020603050405020304" pitchFamily="18" charset="0"/>
                <a:cs typeface="Times New Roman" panose="02020603050405020304" pitchFamily="18" charset="0"/>
              </a:rPr>
              <a:t>Simmons was interviewing bystanders. "Dick, come quick. I think we've got something". Anderson was surprised, usually interviews didn't produce quick results like that. </a:t>
            </a:r>
          </a:p>
          <a:p>
            <a:pPr marL="0" indent="0">
              <a:buNone/>
            </a:pPr>
            <a:r>
              <a:rPr lang="en-US" dirty="0">
                <a:latin typeface="Times New Roman" panose="02020603050405020304" pitchFamily="18" charset="0"/>
                <a:cs typeface="Times New Roman" panose="02020603050405020304" pitchFamily="18" charset="0"/>
              </a:rPr>
              <a:t>A woman saw a man fleeing the crime scene. Tall, male, black hair, between 20 and 30 years old. It's not much to go on, but it's enough to query the police database and make a list of suspects. It's time for the geeks from forensics to stop playing </a:t>
            </a:r>
            <a:r>
              <a:rPr lang="hu-HU" dirty="0" err="1">
                <a:latin typeface="Times New Roman" panose="02020603050405020304" pitchFamily="18" charset="0"/>
                <a:cs typeface="Times New Roman" panose="02020603050405020304" pitchFamily="18" charset="0"/>
              </a:rPr>
              <a:t>tetris</a:t>
            </a:r>
            <a:r>
              <a:rPr lang="en-US" dirty="0">
                <a:latin typeface="Times New Roman" panose="02020603050405020304" pitchFamily="18" charset="0"/>
                <a:cs typeface="Times New Roman" panose="02020603050405020304" pitchFamily="18" charset="0"/>
              </a:rPr>
              <a:t> and start doing something useful…</a:t>
            </a:r>
          </a:p>
          <a:p>
            <a:endParaRPr lang="nl-NL"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8F0BDB5-4080-4D4B-8959-B60D8483E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140" y="0"/>
            <a:ext cx="6916930" cy="6858000"/>
          </a:xfrm>
          <a:prstGeom prst="rect">
            <a:avLst/>
          </a:prstGeom>
        </p:spPr>
      </p:pic>
    </p:spTree>
    <p:extLst>
      <p:ext uri="{BB962C8B-B14F-4D97-AF65-F5344CB8AC3E}">
        <p14:creationId xmlns:p14="http://schemas.microsoft.com/office/powerpoint/2010/main" val="22305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286E0F9A-23C7-47A9-9DD1-9EE340B50411}"/>
              </a:ext>
            </a:extLst>
          </p:cNvPr>
          <p:cNvSpPr>
            <a:spLocks noGrp="1"/>
          </p:cNvSpPr>
          <p:nvPr>
            <p:ph type="title"/>
          </p:nvPr>
        </p:nvSpPr>
        <p:spPr>
          <a:xfrm>
            <a:off x="640079" y="2053641"/>
            <a:ext cx="3669161" cy="2760098"/>
          </a:xfrm>
        </p:spPr>
        <p:txBody>
          <a:bodyPr>
            <a:normAutofit/>
          </a:bodyPr>
          <a:lstStyle/>
          <a:p>
            <a:r>
              <a:rPr lang="en-US">
                <a:solidFill>
                  <a:srgbClr val="FFFFFF"/>
                </a:solidFill>
              </a:rPr>
              <a:t>The Police Database</a:t>
            </a:r>
            <a:endParaRPr lang="nl-NL">
              <a:solidFill>
                <a:srgbClr val="FFFFFF"/>
              </a:solidFill>
            </a:endParaRPr>
          </a:p>
        </p:txBody>
      </p:sp>
      <p:sp>
        <p:nvSpPr>
          <p:cNvPr id="9" name="Content Placeholder 8">
            <a:extLst>
              <a:ext uri="{FF2B5EF4-FFF2-40B4-BE49-F238E27FC236}">
                <a16:creationId xmlns:a16="http://schemas.microsoft.com/office/drawing/2014/main" id="{BF00E090-6A75-42F5-83F5-0FF4EA56D58F}"/>
              </a:ext>
            </a:extLst>
          </p:cNvPr>
          <p:cNvSpPr>
            <a:spLocks noGrp="1"/>
          </p:cNvSpPr>
          <p:nvPr>
            <p:ph idx="1"/>
          </p:nvPr>
        </p:nvSpPr>
        <p:spPr>
          <a:xfrm>
            <a:off x="6090574" y="801866"/>
            <a:ext cx="5306084" cy="5230634"/>
          </a:xfrm>
        </p:spPr>
        <p:txBody>
          <a:bodyPr anchor="ctr">
            <a:normAutofit/>
          </a:bodyPr>
          <a:lstStyle/>
          <a:p>
            <a:r>
              <a:rPr lang="en-US" sz="2400" dirty="0">
                <a:solidFill>
                  <a:srgbClr val="000000"/>
                </a:solidFill>
              </a:rPr>
              <a:t>Persons</a:t>
            </a:r>
          </a:p>
          <a:p>
            <a:r>
              <a:rPr lang="en-US" sz="2400" dirty="0">
                <a:solidFill>
                  <a:srgbClr val="000000"/>
                </a:solidFill>
              </a:rPr>
              <a:t>Cars with license plates</a:t>
            </a:r>
          </a:p>
          <a:p>
            <a:r>
              <a:rPr lang="en-US" sz="2400" dirty="0">
                <a:solidFill>
                  <a:srgbClr val="000000"/>
                </a:solidFill>
              </a:rPr>
              <a:t>Phone call records</a:t>
            </a:r>
          </a:p>
          <a:p>
            <a:r>
              <a:rPr lang="en-US" sz="2400" dirty="0">
                <a:solidFill>
                  <a:srgbClr val="000000"/>
                </a:solidFill>
              </a:rPr>
              <a:t>Financial records</a:t>
            </a:r>
            <a:endParaRPr lang="nl-NL" sz="2400" dirty="0">
              <a:solidFill>
                <a:srgbClr val="000000"/>
              </a:solidFill>
            </a:endParaRPr>
          </a:p>
        </p:txBody>
      </p:sp>
    </p:spTree>
    <p:extLst>
      <p:ext uri="{BB962C8B-B14F-4D97-AF65-F5344CB8AC3E}">
        <p14:creationId xmlns:p14="http://schemas.microsoft.com/office/powerpoint/2010/main" val="334802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F6868-76AB-457D-BEE2-2F1E52693844}"/>
              </a:ext>
            </a:extLst>
          </p:cNvPr>
          <p:cNvPicPr>
            <a:picLocks noChangeAspect="1"/>
          </p:cNvPicPr>
          <p:nvPr/>
        </p:nvPicPr>
        <p:blipFill>
          <a:blip r:embed="rId2"/>
          <a:stretch>
            <a:fillRect/>
          </a:stretch>
        </p:blipFill>
        <p:spPr>
          <a:xfrm>
            <a:off x="0" y="0"/>
            <a:ext cx="9695549" cy="6857999"/>
          </a:xfrm>
          <a:prstGeom prst="rect">
            <a:avLst/>
          </a:prstGeom>
        </p:spPr>
      </p:pic>
      <p:sp>
        <p:nvSpPr>
          <p:cNvPr id="5" name="Title 7">
            <a:extLst>
              <a:ext uri="{FF2B5EF4-FFF2-40B4-BE49-F238E27FC236}">
                <a16:creationId xmlns:a16="http://schemas.microsoft.com/office/drawing/2014/main" id="{F044DF27-29ED-4C7F-A133-86C033E44450}"/>
              </a:ext>
            </a:extLst>
          </p:cNvPr>
          <p:cNvSpPr>
            <a:spLocks noGrp="1"/>
          </p:cNvSpPr>
          <p:nvPr>
            <p:ph type="title"/>
          </p:nvPr>
        </p:nvSpPr>
        <p:spPr>
          <a:xfrm>
            <a:off x="9695550" y="0"/>
            <a:ext cx="2222824" cy="6857999"/>
          </a:xfrm>
        </p:spPr>
        <p:txBody>
          <a:bodyPr>
            <a:normAutofit/>
          </a:bodyPr>
          <a:lstStyle/>
          <a:p>
            <a:pPr algn="r"/>
            <a:r>
              <a:rPr lang="hu-HU" dirty="0">
                <a:solidFill>
                  <a:schemeClr val="accent1">
                    <a:lumMod val="75000"/>
                  </a:schemeClr>
                </a:solidFill>
              </a:rPr>
              <a:t>The Map</a:t>
            </a:r>
            <a:endParaRPr lang="nl-NL" dirty="0">
              <a:solidFill>
                <a:schemeClr val="accent1">
                  <a:lumMod val="75000"/>
                </a:schemeClr>
              </a:solidFill>
            </a:endParaRPr>
          </a:p>
        </p:txBody>
      </p:sp>
    </p:spTree>
    <p:extLst>
      <p:ext uri="{BB962C8B-B14F-4D97-AF65-F5344CB8AC3E}">
        <p14:creationId xmlns:p14="http://schemas.microsoft.com/office/powerpoint/2010/main" val="363681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7">
            <a:extLst>
              <a:ext uri="{FF2B5EF4-FFF2-40B4-BE49-F238E27FC236}">
                <a16:creationId xmlns:a16="http://schemas.microsoft.com/office/drawing/2014/main" id="{3D079127-D8E5-41D7-B6BF-202CEFC9B5E5}"/>
              </a:ext>
            </a:extLst>
          </p:cNvPr>
          <p:cNvSpPr>
            <a:spLocks noGrp="1"/>
          </p:cNvSpPr>
          <p:nvPr>
            <p:ph type="title"/>
          </p:nvPr>
        </p:nvSpPr>
        <p:spPr>
          <a:xfrm>
            <a:off x="332509" y="1"/>
            <a:ext cx="2164773" cy="6857999"/>
          </a:xfrm>
        </p:spPr>
        <p:txBody>
          <a:bodyPr>
            <a:normAutofit/>
          </a:bodyPr>
          <a:lstStyle/>
          <a:p>
            <a:r>
              <a:rPr lang="hu-HU" dirty="0">
                <a:solidFill>
                  <a:schemeClr val="accent1">
                    <a:lumMod val="75000"/>
                  </a:schemeClr>
                </a:solidFill>
              </a:rPr>
              <a:t>The </a:t>
            </a:r>
            <a:r>
              <a:rPr lang="hu-HU" dirty="0" err="1">
                <a:solidFill>
                  <a:schemeClr val="accent1">
                    <a:lumMod val="75000"/>
                  </a:schemeClr>
                </a:solidFill>
              </a:rPr>
              <a:t>Districts</a:t>
            </a:r>
            <a:endParaRPr lang="nl-NL" dirty="0">
              <a:solidFill>
                <a:schemeClr val="accent1">
                  <a:lumMod val="75000"/>
                </a:schemeClr>
              </a:solidFill>
            </a:endParaRPr>
          </a:p>
        </p:txBody>
      </p:sp>
      <p:pic>
        <p:nvPicPr>
          <p:cNvPr id="6" name="Picture 5">
            <a:extLst>
              <a:ext uri="{FF2B5EF4-FFF2-40B4-BE49-F238E27FC236}">
                <a16:creationId xmlns:a16="http://schemas.microsoft.com/office/drawing/2014/main" id="{BE28C398-3E9E-787A-72CA-8C8E679BA50E}"/>
              </a:ext>
            </a:extLst>
          </p:cNvPr>
          <p:cNvPicPr>
            <a:picLocks noChangeAspect="1"/>
          </p:cNvPicPr>
          <p:nvPr/>
        </p:nvPicPr>
        <p:blipFill>
          <a:blip r:embed="rId2"/>
          <a:stretch>
            <a:fillRect/>
          </a:stretch>
        </p:blipFill>
        <p:spPr>
          <a:xfrm>
            <a:off x="2496451" y="0"/>
            <a:ext cx="9695549" cy="6857999"/>
          </a:xfrm>
          <a:prstGeom prst="rect">
            <a:avLst/>
          </a:prstGeom>
        </p:spPr>
      </p:pic>
    </p:spTree>
    <p:extLst>
      <p:ext uri="{BB962C8B-B14F-4D97-AF65-F5344CB8AC3E}">
        <p14:creationId xmlns:p14="http://schemas.microsoft.com/office/powerpoint/2010/main" val="4183668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2DD2BC0-6F29-4B4F-8D61-2DCF6D2E8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ECDDC7-3497-4B46-BBF8-3772FC6B74A2}"/>
              </a:ext>
            </a:extLst>
          </p:cNvPr>
          <p:cNvSpPr>
            <a:spLocks noGrp="1"/>
          </p:cNvSpPr>
          <p:nvPr>
            <p:ph type="title"/>
          </p:nvPr>
        </p:nvSpPr>
        <p:spPr>
          <a:xfrm>
            <a:off x="1179226" y="826680"/>
            <a:ext cx="9833548" cy="1325563"/>
          </a:xfrm>
        </p:spPr>
        <p:txBody>
          <a:bodyPr>
            <a:normAutofit/>
          </a:bodyPr>
          <a:lstStyle/>
          <a:p>
            <a:pPr algn="ctr"/>
            <a:r>
              <a:rPr lang="hu-HU" sz="4000" dirty="0">
                <a:solidFill>
                  <a:srgbClr val="FFFFFF"/>
                </a:solidFill>
              </a:rPr>
              <a:t>Go! </a:t>
            </a:r>
            <a:r>
              <a:rPr lang="hu-HU" sz="4000" dirty="0" err="1">
                <a:solidFill>
                  <a:srgbClr val="FFFFFF"/>
                </a:solidFill>
              </a:rPr>
              <a:t>Travel</a:t>
            </a:r>
            <a:r>
              <a:rPr lang="hu-HU" sz="4000" dirty="0">
                <a:solidFill>
                  <a:srgbClr val="FFFFFF"/>
                </a:solidFill>
              </a:rPr>
              <a:t>! </a:t>
            </a:r>
            <a:r>
              <a:rPr lang="hu-HU" sz="4000" dirty="0" err="1">
                <a:solidFill>
                  <a:srgbClr val="FFFFFF"/>
                </a:solidFill>
              </a:rPr>
              <a:t>Investigate</a:t>
            </a:r>
            <a:r>
              <a:rPr lang="hu-HU" sz="4000" dirty="0">
                <a:solidFill>
                  <a:srgbClr val="FFFFFF"/>
                </a:solidFill>
              </a:rPr>
              <a:t> </a:t>
            </a:r>
            <a:r>
              <a:rPr lang="hu-HU" sz="4000" dirty="0" err="1">
                <a:solidFill>
                  <a:srgbClr val="FFFFFF"/>
                </a:solidFill>
              </a:rPr>
              <a:t>murders</a:t>
            </a:r>
            <a:r>
              <a:rPr lang="hu-HU" sz="4000" dirty="0">
                <a:solidFill>
                  <a:srgbClr val="FFFFFF"/>
                </a:solidFill>
              </a:rPr>
              <a:t>!</a:t>
            </a:r>
            <a:endParaRPr lang="nl-NL" sz="4000" dirty="0">
              <a:solidFill>
                <a:srgbClr val="FFFFFF"/>
              </a:solidFill>
            </a:endParaRPr>
          </a:p>
        </p:txBody>
      </p:sp>
      <p:sp>
        <p:nvSpPr>
          <p:cNvPr id="7" name="Title 1">
            <a:extLst>
              <a:ext uri="{FF2B5EF4-FFF2-40B4-BE49-F238E27FC236}">
                <a16:creationId xmlns:a16="http://schemas.microsoft.com/office/drawing/2014/main" id="{B4B8F6B5-0CFE-4A96-84F0-EC2E6453A16A}"/>
              </a:ext>
            </a:extLst>
          </p:cNvPr>
          <p:cNvSpPr txBox="1">
            <a:spLocks/>
          </p:cNvSpPr>
          <p:nvPr/>
        </p:nvSpPr>
        <p:spPr>
          <a:xfrm>
            <a:off x="416586" y="3063878"/>
            <a:ext cx="11358524" cy="25597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dirty="0">
                <a:hlinkClick r:id="rId3"/>
              </a:rPr>
              <a:t>https://topdesk.github.io/database-detective/</a:t>
            </a:r>
            <a:r>
              <a:rPr lang="en-US" sz="3000" dirty="0"/>
              <a:t> </a:t>
            </a:r>
            <a:endParaRPr lang="nl-NL" sz="3000" dirty="0">
              <a:ea typeface="Calibri Light"/>
              <a:cs typeface="Calibri Light"/>
              <a:hlinkClick r:id="" action="ppaction://noaction"/>
            </a:endParaRPr>
          </a:p>
        </p:txBody>
      </p:sp>
    </p:spTree>
    <p:extLst>
      <p:ext uri="{BB962C8B-B14F-4D97-AF65-F5344CB8AC3E}">
        <p14:creationId xmlns:p14="http://schemas.microsoft.com/office/powerpoint/2010/main" val="1508321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46C150-3E28-403E-8627-554B9AA03428}"/>
              </a:ext>
            </a:extLst>
          </p:cNvPr>
          <p:cNvPicPr>
            <a:picLocks noChangeAspect="1"/>
          </p:cNvPicPr>
          <p:nvPr/>
        </p:nvPicPr>
        <p:blipFill>
          <a:blip r:embed="rId2">
            <a:extLst>
              <a:ext uri="{BEBA8EAE-BF5A-486C-A8C5-ECC9F3942E4B}">
                <a14:imgProps xmlns:a14="http://schemas.microsoft.com/office/drawing/2010/main">
                  <a14:imgLayer r:embed="rId3">
                    <a14:imgEffect>
                      <a14:artisticBlur radius="5"/>
                    </a14:imgEffect>
                    <a14:imgEffect>
                      <a14:colorTemperature colorTemp="3500"/>
                    </a14:imgEffect>
                  </a14:imgLayer>
                </a14:imgProps>
              </a:ext>
            </a:extLst>
          </a:blip>
          <a:stretch>
            <a:fillRect/>
          </a:stretch>
        </p:blipFill>
        <p:spPr>
          <a:xfrm>
            <a:off x="0" y="-637032"/>
            <a:ext cx="12191999" cy="8132063"/>
          </a:xfrm>
          <a:prstGeom prst="rect">
            <a:avLst/>
          </a:prstGeom>
        </p:spPr>
      </p:pic>
      <p:sp>
        <p:nvSpPr>
          <p:cNvPr id="6" name="TextBox 5">
            <a:extLst>
              <a:ext uri="{FF2B5EF4-FFF2-40B4-BE49-F238E27FC236}">
                <a16:creationId xmlns:a16="http://schemas.microsoft.com/office/drawing/2014/main" id="{4AAFE4DF-1A10-4D82-AAC8-67B2CA74556E}"/>
              </a:ext>
            </a:extLst>
          </p:cNvPr>
          <p:cNvSpPr txBox="1"/>
          <p:nvPr/>
        </p:nvSpPr>
        <p:spPr>
          <a:xfrm>
            <a:off x="976312" y="1642593"/>
            <a:ext cx="6034088" cy="4154984"/>
          </a:xfrm>
          <a:prstGeom prst="rect">
            <a:avLst/>
          </a:prstGeom>
          <a:noFill/>
        </p:spPr>
        <p:txBody>
          <a:bodyPr wrap="square" rtlCol="0">
            <a:spAutoFit/>
          </a:bodyPr>
          <a:lstStyle/>
          <a:p>
            <a:r>
              <a:rPr lang="en-US" sz="4400" dirty="0">
                <a:solidFill>
                  <a:schemeClr val="bg1"/>
                </a:solidFill>
                <a:latin typeface="Gigi" panose="04040504060007020D02" pitchFamily="82" charset="0"/>
              </a:rPr>
              <a:t>Story by</a:t>
            </a:r>
            <a:r>
              <a:rPr lang="hu-HU" sz="4400" dirty="0">
                <a:solidFill>
                  <a:schemeClr val="bg1"/>
                </a:solidFill>
                <a:latin typeface="Gigi" panose="04040504060007020D02" pitchFamily="82" charset="0"/>
              </a:rPr>
              <a:t> . . .</a:t>
            </a:r>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Cartographer</a:t>
            </a:r>
            <a:r>
              <a:rPr lang="hu-HU" sz="4400" dirty="0">
                <a:solidFill>
                  <a:schemeClr val="bg1"/>
                </a:solidFill>
                <a:latin typeface="Gigi" panose="04040504060007020D02" pitchFamily="82" charset="0"/>
              </a:rPr>
              <a:t> . . .</a:t>
            </a:r>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Design by</a:t>
            </a:r>
            <a:r>
              <a:rPr lang="hu-HU" sz="4400" dirty="0">
                <a:solidFill>
                  <a:schemeClr val="bg1"/>
                </a:solidFill>
                <a:latin typeface="Gigi" panose="04040504060007020D02" pitchFamily="82" charset="0"/>
              </a:rPr>
              <a:t> . . .</a:t>
            </a:r>
          </a:p>
          <a:p>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Graphics</a:t>
            </a:r>
            <a:r>
              <a:rPr lang="hu-HU" sz="4400" dirty="0">
                <a:solidFill>
                  <a:schemeClr val="bg1"/>
                </a:solidFill>
                <a:latin typeface="Gigi" panose="04040504060007020D02" pitchFamily="82" charset="0"/>
              </a:rPr>
              <a:t> . . .</a:t>
            </a:r>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Assistants</a:t>
            </a:r>
            <a:r>
              <a:rPr lang="hu-HU" sz="4400" dirty="0">
                <a:solidFill>
                  <a:schemeClr val="bg1"/>
                </a:solidFill>
                <a:latin typeface="Gigi" panose="04040504060007020D02" pitchFamily="82" charset="0"/>
              </a:rPr>
              <a:t> . . . </a:t>
            </a:r>
            <a:endParaRPr lang="en-US" sz="4400" dirty="0">
              <a:solidFill>
                <a:schemeClr val="bg1"/>
              </a:solidFill>
              <a:latin typeface="Gigi" panose="04040504060007020D02" pitchFamily="82" charset="0"/>
            </a:endParaRPr>
          </a:p>
        </p:txBody>
      </p:sp>
      <p:sp>
        <p:nvSpPr>
          <p:cNvPr id="8" name="TextBox 7">
            <a:extLst>
              <a:ext uri="{FF2B5EF4-FFF2-40B4-BE49-F238E27FC236}">
                <a16:creationId xmlns:a16="http://schemas.microsoft.com/office/drawing/2014/main" id="{53AF5615-DD31-4132-9742-FF51F9D3F306}"/>
              </a:ext>
            </a:extLst>
          </p:cNvPr>
          <p:cNvSpPr txBox="1"/>
          <p:nvPr/>
        </p:nvSpPr>
        <p:spPr>
          <a:xfrm>
            <a:off x="3009901" y="1642732"/>
            <a:ext cx="7815261" cy="4832092"/>
          </a:xfrm>
          <a:prstGeom prst="rect">
            <a:avLst/>
          </a:prstGeom>
          <a:noFill/>
        </p:spPr>
        <p:txBody>
          <a:bodyPr wrap="square" rtlCol="0">
            <a:spAutoFit/>
          </a:bodyPr>
          <a:lstStyle/>
          <a:p>
            <a:pPr algn="r"/>
            <a:r>
              <a:rPr lang="en-US" sz="4400" dirty="0">
                <a:solidFill>
                  <a:schemeClr val="bg1"/>
                </a:solidFill>
                <a:latin typeface="Broadway" panose="020B0604020202020204" pitchFamily="82" charset="0"/>
              </a:rPr>
              <a:t>Martijn van Iersel</a:t>
            </a:r>
          </a:p>
          <a:p>
            <a:pPr algn="r"/>
            <a:r>
              <a:rPr lang="en-US" sz="4400" dirty="0">
                <a:solidFill>
                  <a:schemeClr val="bg1"/>
                </a:solidFill>
                <a:latin typeface="Broadway" panose="020B0604020202020204" pitchFamily="82" charset="0"/>
              </a:rPr>
              <a:t>Orsika Labuda</a:t>
            </a:r>
            <a:endParaRPr lang="hu-HU" sz="4400" dirty="0">
              <a:solidFill>
                <a:schemeClr val="bg1"/>
              </a:solidFill>
              <a:latin typeface="Broadway" panose="020B0604020202020204" pitchFamily="82" charset="0"/>
            </a:endParaRPr>
          </a:p>
          <a:p>
            <a:pPr algn="r"/>
            <a:r>
              <a:rPr lang="en-US" sz="4400" dirty="0">
                <a:solidFill>
                  <a:schemeClr val="bg1"/>
                </a:solidFill>
                <a:latin typeface="Broadway" panose="020B0604020202020204" pitchFamily="82" charset="0"/>
              </a:rPr>
              <a:t>P</a:t>
            </a:r>
            <a:r>
              <a:rPr lang="hu-HU" sz="4400" dirty="0">
                <a:solidFill>
                  <a:schemeClr val="bg1"/>
                </a:solidFill>
                <a:latin typeface="Broadway" panose="020B0604020202020204" pitchFamily="82" charset="0"/>
              </a:rPr>
              <a:t>éter Vajda</a:t>
            </a:r>
          </a:p>
          <a:p>
            <a:pPr algn="r"/>
            <a:r>
              <a:rPr lang="hu-HU" sz="4400" dirty="0" err="1">
                <a:solidFill>
                  <a:schemeClr val="bg1"/>
                </a:solidFill>
                <a:latin typeface="Broadway" panose="020B0604020202020204" pitchFamily="82" charset="0"/>
              </a:rPr>
              <a:t>Farideh</a:t>
            </a:r>
            <a:r>
              <a:rPr lang="hu-HU" sz="4400" dirty="0">
                <a:solidFill>
                  <a:schemeClr val="bg1"/>
                </a:solidFill>
                <a:latin typeface="Broadway" panose="020B0604020202020204" pitchFamily="82" charset="0"/>
              </a:rPr>
              <a:t> </a:t>
            </a:r>
            <a:r>
              <a:rPr lang="hu-HU" sz="4400" dirty="0" err="1">
                <a:solidFill>
                  <a:schemeClr val="bg1"/>
                </a:solidFill>
                <a:latin typeface="Broadway" panose="020B0604020202020204" pitchFamily="82" charset="0"/>
              </a:rPr>
              <a:t>Soltani</a:t>
            </a:r>
            <a:r>
              <a:rPr lang="hu-HU" sz="4400" dirty="0">
                <a:solidFill>
                  <a:schemeClr val="bg1"/>
                </a:solidFill>
                <a:latin typeface="Broadway" panose="020B0604020202020204" pitchFamily="82" charset="0"/>
              </a:rPr>
              <a:t> </a:t>
            </a:r>
            <a:r>
              <a:rPr lang="hu-HU" sz="4400" dirty="0" err="1">
                <a:solidFill>
                  <a:schemeClr val="bg1"/>
                </a:solidFill>
                <a:latin typeface="Broadway" panose="020B0604020202020204" pitchFamily="82" charset="0"/>
              </a:rPr>
              <a:t>Nejad</a:t>
            </a:r>
            <a:endParaRPr lang="en-US" sz="4400" dirty="0">
              <a:solidFill>
                <a:schemeClr val="bg1"/>
              </a:solidFill>
              <a:latin typeface="Broadway" panose="020B0604020202020204" pitchFamily="82" charset="0"/>
            </a:endParaRPr>
          </a:p>
          <a:p>
            <a:pPr algn="r"/>
            <a:r>
              <a:rPr lang="hu-HU" sz="4400" dirty="0">
                <a:solidFill>
                  <a:schemeClr val="bg1"/>
                </a:solidFill>
                <a:latin typeface="Broadway" panose="020B0604020202020204" pitchFamily="82" charset="0"/>
              </a:rPr>
              <a:t>Bogdán Bikics</a:t>
            </a:r>
          </a:p>
          <a:p>
            <a:pPr algn="r"/>
            <a:r>
              <a:rPr lang="hu-HU" sz="4400" dirty="0">
                <a:solidFill>
                  <a:schemeClr val="bg1"/>
                </a:solidFill>
                <a:latin typeface="Broadway" panose="020B0604020202020204" pitchFamily="82" charset="0"/>
              </a:rPr>
              <a:t>Kamilla Bukta</a:t>
            </a:r>
          </a:p>
          <a:p>
            <a:pPr algn="r"/>
            <a:r>
              <a:rPr lang="hu-HU" sz="4400" dirty="0">
                <a:solidFill>
                  <a:schemeClr val="bg1"/>
                </a:solidFill>
                <a:latin typeface="Broadway" panose="020B0604020202020204" pitchFamily="82" charset="0"/>
              </a:rPr>
              <a:t>László Szentesi</a:t>
            </a:r>
          </a:p>
        </p:txBody>
      </p:sp>
    </p:spTree>
    <p:extLst>
      <p:ext uri="{BB962C8B-B14F-4D97-AF65-F5344CB8AC3E}">
        <p14:creationId xmlns:p14="http://schemas.microsoft.com/office/powerpoint/2010/main" val="310637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27198E-AD3F-4B71-9BE1-1FDABD734919}"/>
              </a:ext>
            </a:extLst>
          </p:cNvPr>
          <p:cNvSpPr txBox="1"/>
          <p:nvPr/>
        </p:nvSpPr>
        <p:spPr>
          <a:xfrm>
            <a:off x="976312" y="219461"/>
            <a:ext cx="6034088" cy="4154984"/>
          </a:xfrm>
          <a:prstGeom prst="rect">
            <a:avLst/>
          </a:prstGeom>
          <a:noFill/>
        </p:spPr>
        <p:txBody>
          <a:bodyPr wrap="square" rtlCol="0">
            <a:spAutoFit/>
          </a:bodyPr>
          <a:lstStyle/>
          <a:p>
            <a:r>
              <a:rPr lang="en-US" sz="4400" dirty="0">
                <a:solidFill>
                  <a:schemeClr val="bg1"/>
                </a:solidFill>
                <a:latin typeface="Gigi" panose="04040504060007020D02" pitchFamily="82" charset="0"/>
              </a:rPr>
              <a:t>Design by</a:t>
            </a:r>
            <a:r>
              <a:rPr lang="hu-HU" sz="4400" dirty="0">
                <a:solidFill>
                  <a:schemeClr val="bg1"/>
                </a:solidFill>
                <a:latin typeface="Gigi" panose="04040504060007020D02" pitchFamily="82" charset="0"/>
              </a:rPr>
              <a:t> . . .</a:t>
            </a:r>
          </a:p>
          <a:p>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Story by</a:t>
            </a:r>
            <a:r>
              <a:rPr lang="hu-HU" sz="4400" dirty="0">
                <a:solidFill>
                  <a:schemeClr val="bg1"/>
                </a:solidFill>
                <a:latin typeface="Gigi" panose="04040504060007020D02" pitchFamily="82" charset="0"/>
              </a:rPr>
              <a:t> . . .</a:t>
            </a:r>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Cartographer</a:t>
            </a:r>
            <a:r>
              <a:rPr lang="hu-HU" sz="4400" dirty="0">
                <a:solidFill>
                  <a:schemeClr val="bg1"/>
                </a:solidFill>
                <a:latin typeface="Gigi" panose="04040504060007020D02" pitchFamily="82" charset="0"/>
              </a:rPr>
              <a:t> . . .</a:t>
            </a:r>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Graphics</a:t>
            </a:r>
            <a:r>
              <a:rPr lang="hu-HU" sz="4400" dirty="0">
                <a:solidFill>
                  <a:schemeClr val="bg1"/>
                </a:solidFill>
                <a:latin typeface="Gigi" panose="04040504060007020D02" pitchFamily="82" charset="0"/>
              </a:rPr>
              <a:t> . . .</a:t>
            </a:r>
            <a:endParaRPr lang="en-US" sz="4400" dirty="0">
              <a:solidFill>
                <a:schemeClr val="bg1"/>
              </a:solidFill>
              <a:latin typeface="Gigi" panose="04040504060007020D02" pitchFamily="82" charset="0"/>
            </a:endParaRPr>
          </a:p>
          <a:p>
            <a:r>
              <a:rPr lang="en-US" sz="4400" dirty="0">
                <a:solidFill>
                  <a:schemeClr val="bg1"/>
                </a:solidFill>
                <a:latin typeface="Gigi" panose="04040504060007020D02" pitchFamily="82" charset="0"/>
              </a:rPr>
              <a:t>Assistants</a:t>
            </a:r>
            <a:r>
              <a:rPr lang="hu-HU" sz="4400" dirty="0">
                <a:solidFill>
                  <a:schemeClr val="bg1"/>
                </a:solidFill>
                <a:latin typeface="Gigi" panose="04040504060007020D02" pitchFamily="82" charset="0"/>
              </a:rPr>
              <a:t> . . . </a:t>
            </a:r>
            <a:endParaRPr lang="en-US" sz="4400" dirty="0">
              <a:solidFill>
                <a:schemeClr val="bg1"/>
              </a:solidFill>
              <a:latin typeface="Gigi" panose="04040504060007020D02" pitchFamily="82" charset="0"/>
            </a:endParaRPr>
          </a:p>
        </p:txBody>
      </p:sp>
      <p:pic>
        <p:nvPicPr>
          <p:cNvPr id="2" name="Picture 1">
            <a:extLst>
              <a:ext uri="{FF2B5EF4-FFF2-40B4-BE49-F238E27FC236}">
                <a16:creationId xmlns:a16="http://schemas.microsoft.com/office/drawing/2014/main" id="{4041C921-F42B-45BC-BD9F-58C29F1E5CD8}"/>
              </a:ext>
            </a:extLst>
          </p:cNvPr>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artisticBlur radius="2"/>
                    </a14:imgEffect>
                  </a14:imgLayer>
                </a14:imgProps>
              </a:ext>
            </a:extLst>
          </a:blip>
          <a:stretch>
            <a:fillRect/>
          </a:stretch>
        </p:blipFill>
        <p:spPr>
          <a:xfrm>
            <a:off x="-4298" y="-914401"/>
            <a:ext cx="12196298" cy="8318499"/>
          </a:xfrm>
          <a:prstGeom prst="rect">
            <a:avLst/>
          </a:prstGeom>
        </p:spPr>
      </p:pic>
      <p:sp>
        <p:nvSpPr>
          <p:cNvPr id="5" name="Rectangle 4">
            <a:extLst>
              <a:ext uri="{FF2B5EF4-FFF2-40B4-BE49-F238E27FC236}">
                <a16:creationId xmlns:a16="http://schemas.microsoft.com/office/drawing/2014/main" id="{BC8ED2F2-7849-416D-99EC-F75B0E2CBACC}"/>
              </a:ext>
            </a:extLst>
          </p:cNvPr>
          <p:cNvSpPr/>
          <p:nvPr/>
        </p:nvSpPr>
        <p:spPr>
          <a:xfrm>
            <a:off x="-4298" y="2038350"/>
            <a:ext cx="12196298" cy="2400657"/>
          </a:xfrm>
          <a:prstGeom prst="rect">
            <a:avLst/>
          </a:prstGeom>
        </p:spPr>
        <p:txBody>
          <a:bodyPr wrap="square">
            <a:spAutoFit/>
          </a:bodyPr>
          <a:lstStyle/>
          <a:p>
            <a:pPr algn="ctr"/>
            <a:r>
              <a:rPr lang="hu-HU" sz="15000" dirty="0">
                <a:solidFill>
                  <a:schemeClr val="bg1"/>
                </a:solidFill>
                <a:latin typeface="Gigi" panose="04040504060007020D02" pitchFamily="82" charset="0"/>
              </a:rPr>
              <a:t>The End</a:t>
            </a:r>
            <a:endParaRPr lang="en-US" sz="15000" dirty="0"/>
          </a:p>
        </p:txBody>
      </p:sp>
    </p:spTree>
    <p:extLst>
      <p:ext uri="{BB962C8B-B14F-4D97-AF65-F5344CB8AC3E}">
        <p14:creationId xmlns:p14="http://schemas.microsoft.com/office/powerpoint/2010/main" val="3025583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277</Words>
  <Application>Microsoft Office PowerPoint</Application>
  <PresentationFormat>Widescreen</PresentationFormat>
  <Paragraphs>49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Broadway</vt:lpstr>
      <vt:lpstr>Calibri</vt:lpstr>
      <vt:lpstr>Calibri Light</vt:lpstr>
      <vt:lpstr>Gigi</vt:lpstr>
      <vt:lpstr>Times New Roman</vt:lpstr>
      <vt:lpstr>Office Theme</vt:lpstr>
      <vt:lpstr>PowerPoint Presentation</vt:lpstr>
      <vt:lpstr>PowerPoint Presentation</vt:lpstr>
      <vt:lpstr>PowerPoint Presentation</vt:lpstr>
      <vt:lpstr>PowerPoint Presentation</vt:lpstr>
      <vt:lpstr>The Police Database</vt:lpstr>
      <vt:lpstr>The Map</vt:lpstr>
      <vt:lpstr>The Districts</vt:lpstr>
      <vt:lpstr>Go! Travel! Investigate murders!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Martijn van Iersel</dc:creator>
  <cp:lastModifiedBy>Joep Weijers</cp:lastModifiedBy>
  <cp:revision>96</cp:revision>
  <dcterms:created xsi:type="dcterms:W3CDTF">2019-03-28T10:30:42Z</dcterms:created>
  <dcterms:modified xsi:type="dcterms:W3CDTF">2026-09-15T17:55:40Z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976f4a-8d25-4501-a912-60267621eee0_Enabled">
    <vt:lpwstr>true</vt:lpwstr>
  </property>
  <property fmtid="{D5CDD505-2E9C-101B-9397-08002B2CF9AE}" pid="3" name="MSIP_Label_ec976f4a-8d25-4501-a912-60267621eee0_SetDate">
    <vt:lpwstr>2026-09-15T13:07:43Z</vt:lpwstr>
  </property>
  <property fmtid="{D5CDD505-2E9C-101B-9397-08002B2CF9AE}" pid="4" name="MSIP_Label_ec976f4a-8d25-4501-a912-60267621eee0_Method">
    <vt:lpwstr>Standard</vt:lpwstr>
  </property>
  <property fmtid="{D5CDD505-2E9C-101B-9397-08002B2CF9AE}" pid="5" name="MSIP_Label_ec976f4a-8d25-4501-a912-60267621eee0_Name">
    <vt:lpwstr>Internal</vt:lpwstr>
  </property>
  <property fmtid="{D5CDD505-2E9C-101B-9397-08002B2CF9AE}" pid="6" name="MSIP_Label_ec976f4a-8d25-4501-a912-60267621eee0_SiteId">
    <vt:lpwstr>110262a5-90b3-4c8b-bd83-7211c22e3368</vt:lpwstr>
  </property>
  <property fmtid="{D5CDD505-2E9C-101B-9397-08002B2CF9AE}" pid="7" name="MSIP_Label_ec976f4a-8d25-4501-a912-60267621eee0_ActionId">
    <vt:lpwstr>bd421036-665c-4612-bade-2ae5b17ca54e</vt:lpwstr>
  </property>
  <property fmtid="{D5CDD505-2E9C-101B-9397-08002B2CF9AE}" pid="8" name="MSIP_Label_ec976f4a-8d25-4501-a912-60267621eee0_ContentBits">
    <vt:lpwstr>0</vt:lpwstr>
  </property>
  <property fmtid="{D5CDD505-2E9C-101B-9397-08002B2CF9AE}" pid="9" name="MSIP_Label_ec976f4a-8d25-4501-a912-60267621eee0_Tag">
    <vt:lpwstr>10, 3, 0, 1</vt:lpwstr>
  </property>
</Properties>
</file>